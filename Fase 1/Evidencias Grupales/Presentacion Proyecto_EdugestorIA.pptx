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0bPdbQNWwWza1fEu5WnPJd7w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Presentación de la Fase 1 del Proyecto APT. EduGestor es un sistema de gestión escolar ya operativo; este proyecto lo convierte en una plataforma multi-institución con una capa de asistentes de inteligencia artificial.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Cuatro integrantes, un frente cada uno. Las competencias de pruebas y documentación son transversales: todos ejecutan pruebas sobre su propio módulo y hacen revisión cruzada antes de integrar a la rama principal.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9c7d06a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fa9c7d06a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a9c7d06a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Indicador 1 de la rúbrica: describir el proyecto justificando su relevancia para el campo laboral. Los tres problemas de la derecha son los que la industria resuelve todos los días en productos SaaS.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Indicador 2 de la rúbrica. Cada competencia va acompañada de cómo se utiliza, no solo de su enunciado: eso es lo que separa 'logrado' de 'completamente logrado'.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Indicador 3 de la rúbrica. En la defensa, cada integrante debería vincular su frente de trabajo con su propio interés profesional.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Los ocho objetivos específicos están ordenados por dependencia: el motor de base de datos cambia antes que el esquema, y la interfaz interna se prueba antes de conectar los asistentes.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Las limitaciones no son debilidades: son decisiones de acotamiento tomadas para asegurar la entrega. Si el calendario se estrecha, lo que se recorta es siempre lo último de la lista.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El enfoque incremental permite mostrar avances parciales en las revisiones con el docente guía y limita el impacto de un retraso a un incremento en lugar del proyecto completo.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El orden está definido por dependencia. El despliegue en nube es la única actividad prescindible: si el calendario se estrecha, se entrega documentada como arquitectura de producción propuesta.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La capa clave es la interfaz interna de dominio: es la que hace segura la integración de IA y la que permite probar las consultas antes de conectar cualquier agente.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Indicador 5 de la rúbrica. Definir el criterio de calidad antes de construir es lo que permite demostrar que la herramienta sirve, en lugar de solo afirmarlo.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Cierre. Recordar los tres puntos y abrir a preguntas.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A623"/>
          </a:solidFill>
          <a:ln cap="flat" cmpd="sng" w="12700">
            <a:solidFill>
              <a:srgbClr val="F6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12"/>
          <p:cNvCxnSpPr/>
          <p:nvPr/>
        </p:nvCxnSpPr>
        <p:spPr>
          <a:xfrm>
            <a:off x="502920" y="667512"/>
            <a:ext cx="11173968" cy="0"/>
          </a:xfrm>
          <a:prstGeom prst="straightConnector1">
            <a:avLst/>
          </a:prstGeom>
          <a:noFill/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2"/>
          <p:cNvSpPr/>
          <p:nvPr/>
        </p:nvSpPr>
        <p:spPr>
          <a:xfrm>
            <a:off x="530352" y="25603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778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6D7786"/>
                </a:solidFill>
                <a:latin typeface="Inter"/>
                <a:ea typeface="Inter"/>
                <a:cs typeface="Inter"/>
                <a:sym typeface="Inter"/>
              </a:rPr>
              <a:t>PROYECTO “EDUGESTOR IA”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/mnt/data/image1.jpg" id="12" name="Google Shape;1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81160" y="137160"/>
            <a:ext cx="242316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2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1475720" y="64190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11475720" y="64190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idx="12" type="sldNum"/>
          </p:nvPr>
        </p:nvSpPr>
        <p:spPr>
          <a:xfrm>
            <a:off x="11475720" y="64190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249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high_resolution_digital_illustration_abstrac.png" id="24" name="Google Shape;24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102249">
              <a:alpha val="90196"/>
            </a:srgbClr>
          </a:solidFill>
          <a:ln cap="flat" cmpd="sng" w="12700">
            <a:solidFill>
              <a:srgbClr val="1022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823960" y="347472"/>
            <a:ext cx="2788920" cy="585216"/>
          </a:xfrm>
          <a:prstGeom prst="roundRect">
            <a:avLst>
              <a:gd fmla="val 10938" name="adj"/>
            </a:avLst>
          </a:prstGeom>
          <a:solidFill>
            <a:srgbClr val="FFFFFF">
              <a:alpha val="9607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/mnt/data/image1.jpg" id="27" name="Google Shape;2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408" y="412787"/>
            <a:ext cx="246888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713232" y="6583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D8F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82D8FF"/>
                </a:solidFill>
                <a:latin typeface="Inter"/>
                <a:ea typeface="Inter"/>
                <a:cs typeface="Inter"/>
                <a:sym typeface="Inter"/>
              </a:rPr>
              <a:t>PROYECTO CAPSTONE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94944" y="123444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EduGestor IA</a:t>
            </a:r>
            <a:endParaRPr b="0" i="0" sz="3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" y="1920240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5F7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D9E5F7"/>
                </a:solidFill>
                <a:latin typeface="Inter"/>
                <a:ea typeface="Inter"/>
                <a:cs typeface="Inter"/>
                <a:sym typeface="Inter"/>
              </a:rPr>
              <a:t>Gestión escolar </a:t>
            </a:r>
            <a:r>
              <a:rPr lang="en-US" sz="2100">
                <a:solidFill>
                  <a:srgbClr val="D9E5F7"/>
                </a:solidFill>
                <a:latin typeface="Inter"/>
                <a:ea typeface="Inter"/>
                <a:cs typeface="Inter"/>
                <a:sym typeface="Inter"/>
              </a:rPr>
              <a:t>institucional</a:t>
            </a:r>
            <a:r>
              <a:rPr b="0" i="0" lang="en-US" sz="2100" u="none" cap="none" strike="noStrike">
                <a:solidFill>
                  <a:srgbClr val="D9E5F7"/>
                </a:solidFill>
                <a:latin typeface="Inter"/>
                <a:ea typeface="Inter"/>
                <a:cs typeface="Inter"/>
                <a:sym typeface="Inter"/>
              </a:rPr>
              <a:t> con IA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713232" y="2633472"/>
            <a:ext cx="1005840" cy="0"/>
          </a:xfrm>
          <a:prstGeom prst="straightConnector1">
            <a:avLst/>
          </a:prstGeom>
          <a:noFill/>
          <a:ln cap="flat" cmpd="sng" w="50800">
            <a:solidFill>
              <a:srgbClr val="32B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713232" y="62910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C4D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6C4D9"/>
                </a:solidFill>
                <a:latin typeface="Inter"/>
                <a:ea typeface="Inter"/>
                <a:cs typeface="Inter"/>
                <a:sym typeface="Inter"/>
              </a:rPr>
              <a:t>Presentación de Proyecto · Escuela de Informática y Telecomunicaciones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/>
        </p:nvSpPr>
        <p:spPr>
          <a:xfrm>
            <a:off x="548640" y="85953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01 · EQUIPO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Integrantes y frentes de trabajo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166420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Cada integrante asume un frente distinto; pruebas y documentación son transversales a todo el equipo.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48640" y="2286000"/>
            <a:ext cx="5449824" cy="1600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41247" y="2578608"/>
            <a:ext cx="457200" cy="457200"/>
          </a:xfrm>
          <a:prstGeom prst="ellipse">
            <a:avLst/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41247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1463040" y="2560320"/>
            <a:ext cx="4261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Omar Mejía</a:t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1463040" y="2862072"/>
            <a:ext cx="4261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68D4"/>
                </a:solidFill>
                <a:latin typeface="Inter"/>
                <a:ea typeface="Inter"/>
                <a:cs typeface="Inter"/>
                <a:sym typeface="Inter"/>
              </a:rPr>
              <a:t>Líder de proyecto · Arquitectura de datos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841247" y="3246120"/>
            <a:ext cx="4864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Coordinación · Arquitectura de solución · Integración de los agentes de IA</a:t>
            </a:r>
            <a:endParaRPr sz="1050">
              <a:solidFill>
                <a:srgbClr val="69758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9758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90488" y="2286000"/>
            <a:ext cx="5449824" cy="1600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83096" y="2578608"/>
            <a:ext cx="457200" cy="45720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83096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7104888" y="2560320"/>
            <a:ext cx="4261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Tomás Suárez Alvarado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104888" y="2862072"/>
            <a:ext cx="4261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9B77"/>
                </a:solidFill>
                <a:latin typeface="Inter"/>
                <a:ea typeface="Inter"/>
                <a:cs typeface="Inter"/>
                <a:sym typeface="Inter"/>
              </a:rPr>
              <a:t>Backend · APIs y servicios internos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49B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483096" y="3246120"/>
            <a:ext cx="4864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Endpoints · Capa de dominio · Integración segura de IA con EduGestor</a:t>
            </a:r>
            <a:endParaRPr sz="1050">
              <a:solidFill>
                <a:srgbClr val="69758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9758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8640" y="4041648"/>
            <a:ext cx="5449824" cy="1600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41247" y="4334256"/>
            <a:ext cx="457200" cy="45720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841247" y="43342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1463040" y="4315968"/>
            <a:ext cx="4261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Esteban Cabeza Escobar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1463040" y="4617720"/>
            <a:ext cx="4261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Integración de IA</a:t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841247" y="5001768"/>
            <a:ext cx="4864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Asistente docente · Tutor institucional </a:t>
            </a:r>
            <a:r>
              <a:rPr lang="en-US" sz="1050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 · Indexación documental ·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Contrato de herramientas · Calidad de las salidas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190488" y="4041648"/>
            <a:ext cx="5449824" cy="1600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483096" y="4334256"/>
            <a:ext cx="457200" cy="45720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483096" y="43342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7104888" y="4315968"/>
            <a:ext cx="4261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Jorge Soto</a:t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7104888" y="4617720"/>
            <a:ext cx="4261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Calidad · Validación · Documentación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6483096" y="5001768"/>
            <a:ext cx="48646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Plan de pruebas en tres niveles · Criterios de aceptación · Informe técnico y manual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548640" y="589788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rPr>
              <a:t>Áreas de desempeño: Desarrollo de software · Gestión de proyectos informáticos · Modelamiento y administración de datos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a9c7d06a6_0_0"/>
          <p:cNvSpPr/>
          <p:nvPr/>
        </p:nvSpPr>
        <p:spPr>
          <a:xfrm>
            <a:off x="548640" y="877824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7A623"/>
                </a:solidFill>
                <a:latin typeface="Inter"/>
                <a:ea typeface="Inter"/>
                <a:cs typeface="Inter"/>
                <a:sym typeface="Inter"/>
              </a:rPr>
              <a:t>02· CONTEXTO  - OMAR</a:t>
            </a:r>
            <a:endParaRPr/>
          </a:p>
        </p:txBody>
      </p:sp>
      <p:sp>
        <p:nvSpPr>
          <p:cNvPr id="71" name="Google Shape;71;g3fa9c7d06a6_0_0"/>
          <p:cNvSpPr/>
          <p:nvPr/>
        </p:nvSpPr>
        <p:spPr>
          <a:xfrm>
            <a:off x="530352" y="1115568"/>
            <a:ext cx="850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22752"/>
                </a:solidFill>
                <a:latin typeface="Inter"/>
                <a:ea typeface="Inter"/>
                <a:cs typeface="Inter"/>
                <a:sym typeface="Inter"/>
              </a:rPr>
              <a:t>El desafío educativo a escala nacional</a:t>
            </a:r>
            <a:endParaRPr/>
          </a:p>
        </p:txBody>
      </p:sp>
      <p:sp>
        <p:nvSpPr>
          <p:cNvPr id="72" name="Google Shape;72;g3fa9c7d06a6_0_0"/>
          <p:cNvSpPr txBox="1"/>
          <p:nvPr>
            <p:ph idx="4294967295" type="sldNum"/>
          </p:nvPr>
        </p:nvSpPr>
        <p:spPr>
          <a:xfrm>
            <a:off x="11475720" y="6419088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rgbClr val="97A0A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g3fa9c7d06a6_0_0"/>
          <p:cNvSpPr txBox="1"/>
          <p:nvPr/>
        </p:nvSpPr>
        <p:spPr>
          <a:xfrm>
            <a:off x="566928" y="1536192"/>
            <a:ext cx="10789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69727E"/>
                </a:solidFill>
                <a:latin typeface="Arial"/>
                <a:ea typeface="Arial"/>
                <a:cs typeface="Arial"/>
                <a:sym typeface="Arial"/>
              </a:rPr>
              <a:t>La carga docente y la escala del sistema escolar muestran una oportunidad concreta para aplicar IA como herramienta de apoyo, no de reemplazo.</a:t>
            </a:r>
            <a:endParaRPr/>
          </a:p>
        </p:txBody>
      </p:sp>
      <p:sp>
        <p:nvSpPr>
          <p:cNvPr id="74" name="Google Shape;74;g3fa9c7d06a6_0_0"/>
          <p:cNvSpPr/>
          <p:nvPr/>
        </p:nvSpPr>
        <p:spPr>
          <a:xfrm>
            <a:off x="566928" y="2048256"/>
            <a:ext cx="2541900" cy="157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C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g3fa9c7d06a6_0_0"/>
          <p:cNvSpPr/>
          <p:nvPr/>
        </p:nvSpPr>
        <p:spPr>
          <a:xfrm>
            <a:off x="566928" y="2048256"/>
            <a:ext cx="2541900" cy="73200"/>
          </a:xfrm>
          <a:prstGeom prst="rect">
            <a:avLst/>
          </a:prstGeom>
          <a:solidFill>
            <a:srgbClr val="D35342"/>
          </a:solidFill>
          <a:ln cap="flat" cmpd="sng" w="9525">
            <a:solidFill>
              <a:srgbClr val="D3534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g3fa9c7d06a6_0_0"/>
          <p:cNvSpPr txBox="1"/>
          <p:nvPr/>
        </p:nvSpPr>
        <p:spPr>
          <a:xfrm>
            <a:off x="731520" y="2286000"/>
            <a:ext cx="2148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D35342"/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  <a:endParaRPr/>
          </a:p>
        </p:txBody>
      </p:sp>
      <p:sp>
        <p:nvSpPr>
          <p:cNvPr id="77" name="Google Shape;77;g3fa9c7d06a6_0_0"/>
          <p:cNvSpPr txBox="1"/>
          <p:nvPr/>
        </p:nvSpPr>
        <p:spPr>
          <a:xfrm>
            <a:off x="731520" y="2724912"/>
            <a:ext cx="2148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D35342"/>
                </a:solidFill>
                <a:latin typeface="Arial"/>
                <a:ea typeface="Arial"/>
                <a:cs typeface="Arial"/>
                <a:sym typeface="Arial"/>
              </a:rPr>
              <a:t>DE LOS DOCENTES</a:t>
            </a:r>
            <a:endParaRPr/>
          </a:p>
        </p:txBody>
      </p:sp>
      <p:sp>
        <p:nvSpPr>
          <p:cNvPr id="78" name="Google Shape;78;g3fa9c7d06a6_0_0"/>
          <p:cNvSpPr txBox="1"/>
          <p:nvPr/>
        </p:nvSpPr>
        <p:spPr>
          <a:xfrm>
            <a:off x="749808" y="2999232"/>
            <a:ext cx="213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>
                <a:solidFill>
                  <a:srgbClr val="2D333C"/>
                </a:solidFill>
                <a:latin typeface="Arial"/>
                <a:ea typeface="Arial"/>
                <a:cs typeface="Arial"/>
                <a:sym typeface="Arial"/>
              </a:rPr>
              <a:t>reporta el exceso de trabajo administrativo como una fuente importante de estrés.</a:t>
            </a:r>
            <a:endParaRPr/>
          </a:p>
        </p:txBody>
      </p:sp>
      <p:sp>
        <p:nvSpPr>
          <p:cNvPr id="79" name="Google Shape;79;g3fa9c7d06a6_0_0"/>
          <p:cNvSpPr/>
          <p:nvPr/>
        </p:nvSpPr>
        <p:spPr>
          <a:xfrm>
            <a:off x="3401568" y="2048256"/>
            <a:ext cx="2541900" cy="157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C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g3fa9c7d06a6_0_0"/>
          <p:cNvSpPr/>
          <p:nvPr/>
        </p:nvSpPr>
        <p:spPr>
          <a:xfrm>
            <a:off x="3401568" y="2048256"/>
            <a:ext cx="2541900" cy="73200"/>
          </a:xfrm>
          <a:prstGeom prst="rect">
            <a:avLst/>
          </a:prstGeom>
          <a:solidFill>
            <a:srgbClr val="179B6F"/>
          </a:solidFill>
          <a:ln cap="flat" cmpd="sng" w="9525">
            <a:solidFill>
              <a:srgbClr val="179B6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g3fa9c7d06a6_0_0"/>
          <p:cNvSpPr txBox="1"/>
          <p:nvPr/>
        </p:nvSpPr>
        <p:spPr>
          <a:xfrm>
            <a:off x="3566160" y="2286000"/>
            <a:ext cx="2148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79B6F"/>
                </a:solidFill>
                <a:latin typeface="Arial"/>
                <a:ea typeface="Arial"/>
                <a:cs typeface="Arial"/>
                <a:sym typeface="Arial"/>
              </a:rPr>
              <a:t>8,7 h</a:t>
            </a:r>
            <a:endParaRPr/>
          </a:p>
        </p:txBody>
      </p:sp>
      <p:sp>
        <p:nvSpPr>
          <p:cNvPr id="82" name="Google Shape;82;g3fa9c7d06a6_0_0"/>
          <p:cNvSpPr txBox="1"/>
          <p:nvPr/>
        </p:nvSpPr>
        <p:spPr>
          <a:xfrm>
            <a:off x="3566160" y="2724912"/>
            <a:ext cx="2148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179B6F"/>
                </a:solidFill>
                <a:latin typeface="Arial"/>
                <a:ea typeface="Arial"/>
                <a:cs typeface="Arial"/>
                <a:sym typeface="Arial"/>
              </a:rPr>
              <a:t>POR SEMANA</a:t>
            </a:r>
            <a:endParaRPr/>
          </a:p>
        </p:txBody>
      </p:sp>
      <p:sp>
        <p:nvSpPr>
          <p:cNvPr id="83" name="Google Shape;83;g3fa9c7d06a6_0_0"/>
          <p:cNvSpPr txBox="1"/>
          <p:nvPr/>
        </p:nvSpPr>
        <p:spPr>
          <a:xfrm>
            <a:off x="3584448" y="2999232"/>
            <a:ext cx="213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>
                <a:solidFill>
                  <a:srgbClr val="2D333C"/>
                </a:solidFill>
                <a:latin typeface="Arial"/>
                <a:ea typeface="Arial"/>
                <a:cs typeface="Arial"/>
                <a:sym typeface="Arial"/>
              </a:rPr>
              <a:t>dedican los docentes full-time a preparar clases, sobre 7,4 h promedio OCDE.</a:t>
            </a:r>
            <a:endParaRPr/>
          </a:p>
        </p:txBody>
      </p:sp>
      <p:sp>
        <p:nvSpPr>
          <p:cNvPr id="84" name="Google Shape;84;g3fa9c7d06a6_0_0"/>
          <p:cNvSpPr/>
          <p:nvPr/>
        </p:nvSpPr>
        <p:spPr>
          <a:xfrm>
            <a:off x="6236208" y="2048256"/>
            <a:ext cx="2541900" cy="157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C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g3fa9c7d06a6_0_0"/>
          <p:cNvSpPr/>
          <p:nvPr/>
        </p:nvSpPr>
        <p:spPr>
          <a:xfrm>
            <a:off x="6236208" y="2048256"/>
            <a:ext cx="2541900" cy="73200"/>
          </a:xfrm>
          <a:prstGeom prst="rect">
            <a:avLst/>
          </a:prstGeom>
          <a:solidFill>
            <a:srgbClr val="6F3CBE"/>
          </a:solidFill>
          <a:ln cap="flat" cmpd="sng" w="9525">
            <a:solidFill>
              <a:srgbClr val="6F3C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g3fa9c7d06a6_0_0"/>
          <p:cNvSpPr txBox="1"/>
          <p:nvPr/>
        </p:nvSpPr>
        <p:spPr>
          <a:xfrm>
            <a:off x="6400800" y="2286000"/>
            <a:ext cx="2148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6F3CBE"/>
                </a:solidFill>
                <a:latin typeface="Arial"/>
                <a:ea typeface="Arial"/>
                <a:cs typeface="Arial"/>
                <a:sym typeface="Arial"/>
              </a:rPr>
              <a:t>4,9 h</a:t>
            </a:r>
            <a:endParaRPr/>
          </a:p>
        </p:txBody>
      </p:sp>
      <p:sp>
        <p:nvSpPr>
          <p:cNvPr id="87" name="Google Shape;87;g3fa9c7d06a6_0_0"/>
          <p:cNvSpPr txBox="1"/>
          <p:nvPr/>
        </p:nvSpPr>
        <p:spPr>
          <a:xfrm>
            <a:off x="6400800" y="2724912"/>
            <a:ext cx="2148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6F3CBE"/>
                </a:solidFill>
                <a:latin typeface="Arial"/>
                <a:ea typeface="Arial"/>
                <a:cs typeface="Arial"/>
                <a:sym typeface="Arial"/>
              </a:rPr>
              <a:t>POR SEMANA</a:t>
            </a:r>
            <a:endParaRPr/>
          </a:p>
        </p:txBody>
      </p:sp>
      <p:sp>
        <p:nvSpPr>
          <p:cNvPr id="88" name="Google Shape;88;g3fa9c7d06a6_0_0"/>
          <p:cNvSpPr txBox="1"/>
          <p:nvPr/>
        </p:nvSpPr>
        <p:spPr>
          <a:xfrm>
            <a:off x="6419088" y="2999232"/>
            <a:ext cx="213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>
                <a:solidFill>
                  <a:srgbClr val="2D333C"/>
                </a:solidFill>
                <a:latin typeface="Arial"/>
                <a:ea typeface="Arial"/>
                <a:cs typeface="Arial"/>
                <a:sym typeface="Arial"/>
              </a:rPr>
              <a:t>destinan a trabajo administrativo, versus 3,0 h promedio OCDE.</a:t>
            </a:r>
            <a:endParaRPr/>
          </a:p>
        </p:txBody>
      </p:sp>
      <p:sp>
        <p:nvSpPr>
          <p:cNvPr id="89" name="Google Shape;89;g3fa9c7d06a6_0_0"/>
          <p:cNvSpPr/>
          <p:nvPr/>
        </p:nvSpPr>
        <p:spPr>
          <a:xfrm>
            <a:off x="9070848" y="2048256"/>
            <a:ext cx="2541900" cy="157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C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g3fa9c7d06a6_0_0"/>
          <p:cNvSpPr/>
          <p:nvPr/>
        </p:nvSpPr>
        <p:spPr>
          <a:xfrm>
            <a:off x="9070848" y="2048256"/>
            <a:ext cx="2541900" cy="73200"/>
          </a:xfrm>
          <a:prstGeom prst="rect">
            <a:avLst/>
          </a:prstGeom>
          <a:solidFill>
            <a:srgbClr val="2868D2"/>
          </a:solidFill>
          <a:ln cap="flat" cmpd="sng" w="9525">
            <a:solidFill>
              <a:srgbClr val="2868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g3fa9c7d06a6_0_0"/>
          <p:cNvSpPr txBox="1"/>
          <p:nvPr/>
        </p:nvSpPr>
        <p:spPr>
          <a:xfrm>
            <a:off x="9235440" y="2286000"/>
            <a:ext cx="2148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2868D2"/>
                </a:solidFill>
                <a:latin typeface="Arial"/>
                <a:ea typeface="Arial"/>
                <a:cs typeface="Arial"/>
                <a:sym typeface="Arial"/>
              </a:rPr>
              <a:t>3,54 M</a:t>
            </a:r>
            <a:endParaRPr/>
          </a:p>
        </p:txBody>
      </p:sp>
      <p:sp>
        <p:nvSpPr>
          <p:cNvPr id="92" name="Google Shape;92;g3fa9c7d06a6_0_0"/>
          <p:cNvSpPr txBox="1"/>
          <p:nvPr/>
        </p:nvSpPr>
        <p:spPr>
          <a:xfrm>
            <a:off x="9235440" y="2724912"/>
            <a:ext cx="2148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868D2"/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  <a:endParaRPr/>
          </a:p>
        </p:txBody>
      </p:sp>
      <p:sp>
        <p:nvSpPr>
          <p:cNvPr id="93" name="Google Shape;93;g3fa9c7d06a6_0_0"/>
          <p:cNvSpPr txBox="1"/>
          <p:nvPr/>
        </p:nvSpPr>
        <p:spPr>
          <a:xfrm>
            <a:off x="9253728" y="2999232"/>
            <a:ext cx="213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>
                <a:solidFill>
                  <a:srgbClr val="2D333C"/>
                </a:solidFill>
                <a:latin typeface="Arial"/>
                <a:ea typeface="Arial"/>
                <a:cs typeface="Arial"/>
                <a:sym typeface="Arial"/>
              </a:rPr>
              <a:t>forman parte de la matrícula escolar oficial de Chile en 2025.</a:t>
            </a:r>
            <a:endParaRPr/>
          </a:p>
        </p:txBody>
      </p:sp>
      <p:sp>
        <p:nvSpPr>
          <p:cNvPr id="94" name="Google Shape;94;g3fa9c7d06a6_0_0"/>
          <p:cNvSpPr txBox="1"/>
          <p:nvPr/>
        </p:nvSpPr>
        <p:spPr>
          <a:xfrm>
            <a:off x="731516" y="4023416"/>
            <a:ext cx="109728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22752"/>
                </a:solidFill>
                <a:latin typeface="Arial"/>
                <a:ea typeface="Arial"/>
                <a:cs typeface="Arial"/>
                <a:sym typeface="Arial"/>
              </a:rPr>
              <a:t>DOS NECESIDADES DEL SISTEMA → DOS SOLUCIONES DE EDUGESTOR IA</a:t>
            </a:r>
            <a:endParaRPr/>
          </a:p>
        </p:txBody>
      </p:sp>
      <p:sp>
        <p:nvSpPr>
          <p:cNvPr id="95" name="Google Shape;95;g3fa9c7d06a6_0_0"/>
          <p:cNvSpPr/>
          <p:nvPr/>
        </p:nvSpPr>
        <p:spPr>
          <a:xfrm>
            <a:off x="804668" y="4480617"/>
            <a:ext cx="5139000" cy="1298400"/>
          </a:xfrm>
          <a:prstGeom prst="roundRect">
            <a:avLst>
              <a:gd fmla="val 16667" name="adj"/>
            </a:avLst>
          </a:prstGeom>
          <a:solidFill>
            <a:srgbClr val="EBF9F4"/>
          </a:solidFill>
          <a:ln cap="flat" cmpd="sng" w="13950">
            <a:solidFill>
              <a:srgbClr val="179B6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g3fa9c7d06a6_0_0"/>
          <p:cNvSpPr/>
          <p:nvPr/>
        </p:nvSpPr>
        <p:spPr>
          <a:xfrm>
            <a:off x="1042412" y="4727505"/>
            <a:ext cx="475500" cy="475500"/>
          </a:xfrm>
          <a:prstGeom prst="ellipse">
            <a:avLst/>
          </a:prstGeom>
          <a:solidFill>
            <a:srgbClr val="179B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g3fa9c7d06a6_0_0"/>
          <p:cNvSpPr txBox="1"/>
          <p:nvPr/>
        </p:nvSpPr>
        <p:spPr>
          <a:xfrm>
            <a:off x="1042412" y="4727505"/>
            <a:ext cx="47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8" name="Google Shape;98;g3fa9c7d06a6_0_0"/>
          <p:cNvSpPr txBox="1"/>
          <p:nvPr/>
        </p:nvSpPr>
        <p:spPr>
          <a:xfrm>
            <a:off x="1682492" y="4608633"/>
            <a:ext cx="2240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79B6F"/>
                </a:solidFill>
                <a:latin typeface="Arial"/>
                <a:ea typeface="Arial"/>
                <a:cs typeface="Arial"/>
                <a:sym typeface="Arial"/>
              </a:rPr>
              <a:t>Carga docente</a:t>
            </a:r>
            <a:endParaRPr/>
          </a:p>
        </p:txBody>
      </p:sp>
      <p:sp>
        <p:nvSpPr>
          <p:cNvPr id="99" name="Google Shape;99;g3fa9c7d06a6_0_0"/>
          <p:cNvSpPr txBox="1"/>
          <p:nvPr/>
        </p:nvSpPr>
        <p:spPr>
          <a:xfrm>
            <a:off x="1682492" y="4901241"/>
            <a:ext cx="384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>
                <a:solidFill>
                  <a:srgbClr val="2D333C"/>
                </a:solidFill>
                <a:latin typeface="Arial"/>
                <a:ea typeface="Arial"/>
                <a:cs typeface="Arial"/>
                <a:sym typeface="Arial"/>
              </a:rPr>
              <a:t>Asistente Docente con IA → genera borradores de evaluaciones, planificaciones y contenido para revisión del profesor.</a:t>
            </a:r>
            <a:endParaRPr/>
          </a:p>
        </p:txBody>
      </p:sp>
      <p:sp>
        <p:nvSpPr>
          <p:cNvPr id="100" name="Google Shape;100;g3fa9c7d06a6_0_0"/>
          <p:cNvSpPr/>
          <p:nvPr/>
        </p:nvSpPr>
        <p:spPr>
          <a:xfrm>
            <a:off x="6227060" y="4480617"/>
            <a:ext cx="5139000" cy="1298400"/>
          </a:xfrm>
          <a:prstGeom prst="roundRect">
            <a:avLst>
              <a:gd fmla="val 16667" name="adj"/>
            </a:avLst>
          </a:prstGeom>
          <a:solidFill>
            <a:srgbClr val="F6EFFF"/>
          </a:solidFill>
          <a:ln cap="flat" cmpd="sng" w="13950">
            <a:solidFill>
              <a:srgbClr val="6F3C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g3fa9c7d06a6_0_0"/>
          <p:cNvSpPr/>
          <p:nvPr/>
        </p:nvSpPr>
        <p:spPr>
          <a:xfrm>
            <a:off x="6464804" y="4727505"/>
            <a:ext cx="475500" cy="475500"/>
          </a:xfrm>
          <a:prstGeom prst="ellipse">
            <a:avLst/>
          </a:prstGeom>
          <a:solidFill>
            <a:srgbClr val="6F3CB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g3fa9c7d06a6_0_0"/>
          <p:cNvSpPr txBox="1"/>
          <p:nvPr/>
        </p:nvSpPr>
        <p:spPr>
          <a:xfrm>
            <a:off x="6464804" y="4727505"/>
            <a:ext cx="47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3" name="Google Shape;103;g3fa9c7d06a6_0_0"/>
          <p:cNvSpPr txBox="1"/>
          <p:nvPr/>
        </p:nvSpPr>
        <p:spPr>
          <a:xfrm>
            <a:off x="7104884" y="4608633"/>
            <a:ext cx="265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6F3CBE"/>
                </a:solidFill>
                <a:latin typeface="Arial"/>
                <a:ea typeface="Arial"/>
                <a:cs typeface="Arial"/>
                <a:sym typeface="Arial"/>
              </a:rPr>
              <a:t>Información institucional</a:t>
            </a:r>
            <a:endParaRPr/>
          </a:p>
        </p:txBody>
      </p:sp>
      <p:sp>
        <p:nvSpPr>
          <p:cNvPr id="104" name="Google Shape;104;g3fa9c7d06a6_0_0"/>
          <p:cNvSpPr txBox="1"/>
          <p:nvPr/>
        </p:nvSpPr>
        <p:spPr>
          <a:xfrm>
            <a:off x="7104884" y="4901241"/>
            <a:ext cx="37947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>
                <a:solidFill>
                  <a:srgbClr val="2D333C"/>
                </a:solidFill>
                <a:latin typeface="Arial"/>
                <a:ea typeface="Arial"/>
                <a:cs typeface="Arial"/>
                <a:sym typeface="Arial"/>
              </a:rPr>
              <a:t>Tutor Institucional RAG → transforma reglamentos y documentos oficiales en respuestas consultables y trazables.</a:t>
            </a:r>
            <a:endParaRPr/>
          </a:p>
        </p:txBody>
      </p:sp>
      <p:sp>
        <p:nvSpPr>
          <p:cNvPr id="105" name="Google Shape;105;g3fa9c7d06a6_0_0"/>
          <p:cNvSpPr/>
          <p:nvPr/>
        </p:nvSpPr>
        <p:spPr>
          <a:xfrm>
            <a:off x="1097276" y="5888793"/>
            <a:ext cx="10223100" cy="384000"/>
          </a:xfrm>
          <a:prstGeom prst="roundRect">
            <a:avLst>
              <a:gd fmla="val 16667" name="adj"/>
            </a:avLst>
          </a:prstGeom>
          <a:solidFill>
            <a:srgbClr val="122752"/>
          </a:solidFill>
          <a:ln cap="flat" cmpd="sng" w="9525">
            <a:solidFill>
              <a:srgbClr val="1227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g3fa9c7d06a6_0_0"/>
          <p:cNvSpPr txBox="1"/>
          <p:nvPr/>
        </p:nvSpPr>
        <p:spPr>
          <a:xfrm>
            <a:off x="1225292" y="5952801"/>
            <a:ext cx="996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EDUGESTOR IA BUSCA DEVOLVER TIEMPO AL DOCENTE Y HACER MÁS ACCESIBLE LA INFORMACIÓN OFICIAL DEL COLEGIO.</a:t>
            </a:r>
            <a:endParaRPr/>
          </a:p>
        </p:txBody>
      </p:sp>
      <p:sp>
        <p:nvSpPr>
          <p:cNvPr id="107" name="Google Shape;107;g3fa9c7d06a6_0_0"/>
          <p:cNvSpPr txBox="1"/>
          <p:nvPr/>
        </p:nvSpPr>
        <p:spPr>
          <a:xfrm>
            <a:off x="768092" y="6382569"/>
            <a:ext cx="10698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40">
                <a:solidFill>
                  <a:srgbClr val="7E8590"/>
                </a:solidFill>
                <a:latin typeface="Arial"/>
                <a:ea typeface="Arial"/>
                <a:cs typeface="Arial"/>
                <a:sym typeface="Arial"/>
              </a:rPr>
              <a:t>Fuentes: OECD, Results from TALIS 2024 – Country Note: Chile (2025); Centro de Estudios MINEDUC, Matrícula Escolar Oficial 2025.</a:t>
            </a:r>
            <a:endParaRPr/>
          </a:p>
        </p:txBody>
      </p:sp>
      <p:sp>
        <p:nvSpPr>
          <p:cNvPr id="108" name="Google Shape;108;g3fa9c7d06a6_0_0"/>
          <p:cNvSpPr txBox="1"/>
          <p:nvPr/>
        </p:nvSpPr>
        <p:spPr>
          <a:xfrm>
            <a:off x="401575" y="38531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RELEVANCIA - JORGE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Por qué el proyecto es relevante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548640" y="166420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Aporte de valor para el establecimiento y pertinencia para el campo laboral de la Ingeniería en Informática.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48640" y="2194560"/>
            <a:ext cx="5449824" cy="30175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841248" y="245059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9B77"/>
                </a:solidFill>
                <a:latin typeface="Inter"/>
                <a:ea typeface="Inter"/>
                <a:cs typeface="Inter"/>
                <a:sym typeface="Inter"/>
              </a:rPr>
              <a:t>APORTE DE VALOR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41248" y="2894076"/>
            <a:ext cx="137160" cy="13716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152144" y="283464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Centralización con trazabilidad. </a:t>
            </a:r>
            <a:r>
              <a:rPr b="0" i="0" lang="en-US" sz="110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Una plataforma única con acceso diferenciado por rol y registro de quién ingresó cada dato.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41248" y="3557016"/>
            <a:ext cx="137160" cy="13716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152144" y="349758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Menos tiempo administrativo. </a:t>
            </a:r>
            <a:r>
              <a:rPr b="0" i="0" lang="en-US" sz="110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Los asistentes reducen el tiempo destinado a tareas de gestión y a la elaboración de instrumentos.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841248" y="4219956"/>
            <a:ext cx="137160" cy="13716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1152144" y="416052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Viabilidad económica. </a:t>
            </a:r>
            <a:r>
              <a:rPr b="0" i="0" lang="en-US" sz="110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La arquitectura multi-institución permite compartir la plataforma sin compartir los datos: hace accesible para escuelas pequeñas un sistema que solas no podrían costear.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190488" y="2194560"/>
            <a:ext cx="5449824" cy="30175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6483096" y="245059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PROBLEMAS ESTÁNDAR DE LA INDUSTRIA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483096" y="2894076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6793992" y="283464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Arquitectura multi-inquilino </a:t>
            </a:r>
            <a:r>
              <a:rPr b="0" i="0" lang="en-US" sz="110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con aislamiento verificable de los datos de cada cliente.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483096" y="3557016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6793992" y="349758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Integración de modelos de lenguaje </a:t>
            </a:r>
            <a:r>
              <a:rPr b="0" i="0" lang="en-US" sz="110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dentro de una aplicación empresarial con control de acceso.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483096" y="4219956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6793992" y="416052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Tratamiento de datos personales sensibles </a:t>
            </a:r>
            <a:r>
              <a:rPr b="0" i="0" lang="en-US" sz="110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bajo el marco regulatorio chileno (Ley 21.719).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48640" y="5394960"/>
            <a:ext cx="11091672" cy="475488"/>
          </a:xfrm>
          <a:prstGeom prst="roundRect">
            <a:avLst>
              <a:gd fmla="val 8000" name="adj"/>
            </a:avLst>
          </a:prstGeom>
          <a:solidFill>
            <a:srgbClr val="10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822959" y="5394960"/>
            <a:ext cx="10543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LAS TRES CAPACIDADES SON DIRECTAMENTE TRANSFERIBLES A CUALQUIER PRODUCTO COMERCIALIZADO BAJO MODALIDAD SaaS.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PERFIL DE EGRESO- JORGE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Competencias que el proyecto pone en práctica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548640" y="166420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Las cuatro se ejercen de forma integrada durante todo el desarrollo, no de manera sucesiva ni aislada.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48640" y="2240280"/>
            <a:ext cx="5449824" cy="1627632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22959" y="2496312"/>
            <a:ext cx="402336" cy="402336"/>
          </a:xfrm>
          <a:prstGeom prst="ellipse">
            <a:avLst/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31590" y="2604942"/>
            <a:ext cx="185074" cy="185074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353312" y="2532888"/>
            <a:ext cx="435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Realizar pruebas de certificación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822959" y="3081528"/>
            <a:ext cx="49011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Plan en tres niveles: pruebas funcionales por rol, pruebas automatizadas de aislamiento entre instituciones y evaluación de la calidad de las salidas de los asistentes.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190488" y="2240280"/>
            <a:ext cx="5449824" cy="1627632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464807" y="2496312"/>
            <a:ext cx="402336" cy="402336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573438" y="2604942"/>
            <a:ext cx="185074" cy="185074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995159" y="2532888"/>
            <a:ext cx="435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Gestionar proyectos informáticos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6464807" y="3081528"/>
            <a:ext cx="49011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Tres estrategias multi-inquilino, tres mecanismos de autenticación y el orden de las migraciones: cada decisión documentada con sus alternativas y su criterio.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48640" y="4023360"/>
            <a:ext cx="5449824" cy="1627632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22959" y="4279392"/>
            <a:ext cx="402336" cy="402336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31590" y="4388022"/>
            <a:ext cx="185074" cy="185074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353312" y="4315968"/>
            <a:ext cx="435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Construir modelos de datos escalables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822959" y="4864608"/>
            <a:ext cx="49011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Competencia central: de 13 entidades a un esquema multi-institución sin pérdida de datos ni de integridad referencial. El mismo esquema soporta uno o varios establecimientos.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190488" y="4023360"/>
            <a:ext cx="5449824" cy="1627632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464807" y="4279392"/>
            <a:ext cx="402336" cy="402336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573438" y="4388022"/>
            <a:ext cx="185074" cy="185074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6995159" y="4315968"/>
            <a:ext cx="435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Desarrollar una solución de software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6464807" y="4864608"/>
            <a:ext cx="49011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Control de versiones con historial, migraciones versionadas, generación reproducible de datos de prueba e integración de un componente externo sin alterar la lógica de negocio.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rPr>
              <a:t>Áreas de desempeño: Desarrollo de software · Gestión de proyectos informáticos · Modelamiento y administración de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INTERESES - ESTEBAN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Cómo el proyecto refleja nuestros intereses profesionales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548640" y="166420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El mayor volumen de trabajo no está en la interfaz, sino donde están los intereses del equipo.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548640" y="2240280"/>
            <a:ext cx="3544824" cy="2606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77824" y="2542032"/>
            <a:ext cx="438912" cy="438912"/>
          </a:xfrm>
          <a:prstGeom prst="ellipse">
            <a:avLst/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996330" y="2660538"/>
            <a:ext cx="201899" cy="201899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877824" y="3154680"/>
            <a:ext cx="28864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Backend y modelamiento de datos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877824" y="3767328"/>
            <a:ext cx="288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El núcleo del proyecto es el diseño del modelo de datos y la construcción de la capa de acceso, no la capa visual.</a:t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4322064" y="2240280"/>
            <a:ext cx="3544824" cy="2606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651248" y="2542032"/>
            <a:ext cx="438912" cy="438912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4769754" y="2660538"/>
            <a:ext cx="201899" cy="201899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4651248" y="3154680"/>
            <a:ext cx="28864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Productos SaaS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4651248" y="3767328"/>
            <a:ext cx="288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El aislamiento entre clientes y el costo de operación por uso no existen en una aplicación de un solo usuario. Aquí los enfrentamos sin riesgo sobre datos reales.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8095488" y="2240280"/>
            <a:ext cx="3544824" cy="2606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8424672" y="2542032"/>
            <a:ext cx="438912" cy="438912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8543178" y="2660538"/>
            <a:ext cx="201899" cy="201899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8424672" y="3154680"/>
            <a:ext cx="28864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IA aplicada a un problema concreto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8424672" y="3767328"/>
            <a:ext cx="288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El interés está en el problema que la IA resuelve, no en la tecnología en sí misma: por eso los asistentes se definen por su alcance y no por su capacidad.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548640" y="5102352"/>
            <a:ext cx="11091600" cy="658500"/>
          </a:xfrm>
          <a:prstGeom prst="roundRect">
            <a:avLst>
              <a:gd fmla="val 8000" name="adj"/>
            </a:avLst>
          </a:prstGeom>
          <a:solidFill>
            <a:srgbClr val="10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DIRECCIÓN - ESTEBAN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Objetivo general y objetivos específicos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fmla="val 6000" name="adj"/>
            </a:avLst>
          </a:prstGeom>
          <a:solidFill>
            <a:srgbClr val="10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004468" y="2284628"/>
            <a:ext cx="231343" cy="231343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1536192" y="201168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1536192" y="2286000"/>
            <a:ext cx="9509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Desarrollar una</a:t>
            </a:r>
            <a:r>
              <a:rPr b="1" lang="en-US" sz="1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implementacion de agente inteligente</a:t>
            </a:r>
            <a:r>
              <a:rPr b="1" i="0" lang="en-US" sz="1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para la gestión escolar centralizada, que incorpore asistentes basados en inteligencia artificial de apoyo a la labor docente y a la consulta de información académica, garantizando el aislamiento verificable de los datos de cada establecimiento.</a:t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548640" y="3310128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49808" y="3456432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49808" y="34564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1234440" y="3429000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Rediseñar el modelo de datos con esquema multi-inquilino.</a:t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190488" y="3310128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391655" y="3456432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6391655" y="34564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6876288" y="3429000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Migrar a PostgreSQL y establecer datos sintéticos reproducibles.</a:t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548640" y="4069080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749808" y="4215384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49808" y="42153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1234440" y="4187952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Implementar la autenticación y el enrutamiento por institución.</a:t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6190488" y="4069080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6391655" y="4215384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6391655" y="42153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6876288" y="4187952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Construir la interfaz interna de dominio, controlada por rol e institución.</a:t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548640" y="4828032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749808" y="4974336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749808" y="49743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1234440" y="4946904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Desarrollar el generador de instrumentos anclado a los OA.</a:t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6190488" y="4828032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391655" y="4974336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6391655" y="49743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219" name="Google Shape;219;p13"/>
          <p:cNvSpPr txBox="1"/>
          <p:nvPr/>
        </p:nvSpPr>
        <p:spPr>
          <a:xfrm>
            <a:off x="6876288" y="4946904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Desarrollar el asistente de resúmenes y el copiloto de uso.</a:t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548640" y="5586983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749808" y="5733288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749808" y="57332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1234440" y="5705855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Diseñar y aplicar el plan de pruebas en sus tres niveles.</a:t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6190488" y="5586983"/>
            <a:ext cx="5449824" cy="6400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391655" y="5733288"/>
            <a:ext cx="347472" cy="347472"/>
          </a:xfrm>
          <a:prstGeom prst="roundRect">
            <a:avLst>
              <a:gd fmla="val 28000" name="adj"/>
            </a:avLst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6391655" y="57332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6876288" y="5705855"/>
            <a:ext cx="45354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Documentar arquitectura, alternativas evaluadas y evidencias.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ALCANCE- 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ESTEBAN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Alcances y limitaciones del proyecto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548640" y="166420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Lo que se compromete entregar y lo que queda deliberadamente fuera.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548640" y="2194560"/>
            <a:ext cx="5449824" cy="32918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841248" y="245059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9B77"/>
                </a:solidFill>
                <a:latin typeface="Inter"/>
                <a:ea typeface="Inter"/>
                <a:cs typeface="Inter"/>
                <a:sym typeface="Inter"/>
              </a:rPr>
              <a:t>ALCANCES</a:t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841261" y="2980927"/>
            <a:ext cx="137100" cy="13710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152157" y="2921492"/>
            <a:ext cx="4553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Migración a PostgreSQL y datos sintéticos reproducibles.</a:t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841261" y="3442573"/>
            <a:ext cx="137100" cy="13710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1152157" y="3383137"/>
            <a:ext cx="4553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Autenticación y enrutamiento por institución.</a:t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841261" y="3904218"/>
            <a:ext cx="137100" cy="13710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1152157" y="3844782"/>
            <a:ext cx="4553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Interfaz interna de dominio con filtro por rol e institución.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841261" y="4365863"/>
            <a:ext cx="137100" cy="13710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1152157" y="4306427"/>
            <a:ext cx="4553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Tres asistentes de IA sobre Gemini, con revisión humana.</a:t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841261" y="4827508"/>
            <a:ext cx="137100" cy="137100"/>
          </a:xfrm>
          <a:prstGeom prst="ellipse">
            <a:avLst/>
          </a:prstGeom>
          <a:solidFill>
            <a:srgbClr val="149B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1152157" y="4768072"/>
            <a:ext cx="4553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Plan de pruebas en tres niveles y documentación técnica.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6190488" y="2194560"/>
            <a:ext cx="5449824" cy="32918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6483096" y="2450592"/>
            <a:ext cx="490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LIMITACIONES</a:t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6483096" y="2921508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6793992" y="2862072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Reconstrucción de los módulos existentes de EduGestor.</a:t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6483096" y="3383152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6793992" y="3323717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Decisiones pedagógicas o administrativas autónomas de la IA.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6483096" y="3844798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6793992" y="3785362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Cobertura del currículum completo: se acota a dos niveles.</a:t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6483096" y="4306443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6793992" y="4247007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Uso de datos reales: se trabaja solo con datos sintéticos.</a:t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6483096" y="4757033"/>
            <a:ext cx="137100" cy="13710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6793992" y="4708647"/>
            <a:ext cx="4553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Exactitud garantizada sin revisión humana de las salidas.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548640" y="5669280"/>
            <a:ext cx="11091672" cy="411480"/>
          </a:xfrm>
          <a:prstGeom prst="roundRect">
            <a:avLst>
              <a:gd fmla="val 8000" name="adj"/>
            </a:avLst>
          </a:prstGeom>
          <a:solidFill>
            <a:srgbClr val="10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822959" y="56692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DECLARAR LO PRESCINDIBLE POR ANTICIPADO ES PARTE DEL CONTROL DEL PROYECTO.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EJECUCIÓN- OMAR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502920" y="1755648"/>
            <a:ext cx="3703200" cy="4206300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20300">
            <a:solidFill>
              <a:srgbClr val="2161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804672" y="2029968"/>
            <a:ext cx="567000" cy="567000"/>
          </a:xfrm>
          <a:prstGeom prst="ellipse">
            <a:avLst/>
          </a:prstGeom>
          <a:solidFill>
            <a:srgbClr val="2161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804672" y="2029968"/>
            <a:ext cx="5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1536192" y="1993392"/>
            <a:ext cx="2240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61C8"/>
                </a:solidFill>
                <a:latin typeface="Arial"/>
                <a:ea typeface="Arial"/>
                <a:cs typeface="Arial"/>
                <a:sym typeface="Arial"/>
              </a:rPr>
              <a:t>Metodología elegida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822960" y="2606040"/>
            <a:ext cx="2971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49"/>
                </a:solidFill>
                <a:latin typeface="Arial"/>
                <a:ea typeface="Arial"/>
                <a:cs typeface="Arial"/>
                <a:sym typeface="Arial"/>
              </a:rPr>
              <a:t>ÁGIL</a:t>
            </a:r>
            <a:br>
              <a:rPr b="1" i="0" lang="en-US" sz="2600" u="none" cap="none" strike="noStrike">
                <a:solidFill>
                  <a:srgbClr val="10224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600" u="none" cap="none" strike="noStrike">
                <a:solidFill>
                  <a:srgbClr val="102249"/>
                </a:solidFill>
                <a:latin typeface="Arial"/>
                <a:ea typeface="Arial"/>
                <a:cs typeface="Arial"/>
                <a:sym typeface="Arial"/>
              </a:rPr>
              <a:t>INCREMENTAL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841248" y="3493008"/>
            <a:ext cx="29262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0363F"/>
                </a:solidFill>
                <a:latin typeface="Arial"/>
                <a:ea typeface="Arial"/>
                <a:cs typeface="Arial"/>
                <a:sym typeface="Arial"/>
              </a:rPr>
              <a:t>El proyecto se construye en incrementos funcionales pequeños, priorizando primero lo esencial y validando cada avance antes de continuar.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960120" y="4800600"/>
            <a:ext cx="2788800" cy="7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161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1078992" y="4901184"/>
            <a:ext cx="2560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161C8"/>
                </a:solidFill>
                <a:latin typeface="Arial"/>
                <a:ea typeface="Arial"/>
                <a:cs typeface="Arial"/>
                <a:sym typeface="Arial"/>
              </a:rPr>
              <a:t>≈ 8 SEMANAS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1078992" y="5148072"/>
            <a:ext cx="25602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Tiempo disponible de desarrollo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4553712" y="1773936"/>
            <a:ext cx="39318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02249"/>
                </a:solidFill>
                <a:latin typeface="Arial"/>
                <a:ea typeface="Arial"/>
                <a:cs typeface="Arial"/>
                <a:sym typeface="Arial"/>
              </a:rPr>
              <a:t>¿POR QUÉ ESTA METODOLOGÍA?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526280" y="2212848"/>
            <a:ext cx="7041000" cy="941700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14600">
            <a:solidFill>
              <a:srgbClr val="2161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736592" y="2423160"/>
            <a:ext cx="438900" cy="438900"/>
          </a:xfrm>
          <a:prstGeom prst="ellipse">
            <a:avLst/>
          </a:prstGeom>
          <a:solidFill>
            <a:srgbClr val="2161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4736592" y="2423160"/>
            <a:ext cx="43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5330952" y="2340864"/>
            <a:ext cx="2148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0" u="none" cap="none" strike="noStrike">
                <a:solidFill>
                  <a:srgbClr val="2161C8"/>
                </a:solidFill>
                <a:latin typeface="Arial"/>
                <a:ea typeface="Arial"/>
                <a:cs typeface="Arial"/>
                <a:sym typeface="Arial"/>
              </a:rPr>
              <a:t>Tiempo acotado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7388352" y="2304288"/>
            <a:ext cx="3840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0" u="none" cap="none" strike="noStrike">
                <a:solidFill>
                  <a:srgbClr val="30363F"/>
                </a:solidFill>
                <a:latin typeface="Arial"/>
                <a:ea typeface="Arial"/>
                <a:cs typeface="Arial"/>
                <a:sym typeface="Arial"/>
              </a:rPr>
              <a:t>Con casi 2 meses de desarrollo, permite priorizar el MVP y avanzar con entregables utilizables desde las primeras semanas.</a:t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4526280" y="3374136"/>
            <a:ext cx="7041000" cy="941700"/>
          </a:xfrm>
          <a:prstGeom prst="roundRect">
            <a:avLst>
              <a:gd fmla="val 16667" name="adj"/>
            </a:avLst>
          </a:prstGeom>
          <a:solidFill>
            <a:srgbClr val="EFFAF4"/>
          </a:solidFill>
          <a:ln cap="flat" cmpd="sng" w="14600">
            <a:solidFill>
              <a:srgbClr val="1891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4736592" y="3584448"/>
            <a:ext cx="438900" cy="438900"/>
          </a:xfrm>
          <a:prstGeom prst="ellipse">
            <a:avLst/>
          </a:prstGeom>
          <a:solidFill>
            <a:srgbClr val="18915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4736592" y="3584448"/>
            <a:ext cx="43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5330952" y="3502152"/>
            <a:ext cx="2148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0" u="none" cap="none" strike="noStrike">
                <a:solidFill>
                  <a:srgbClr val="18915E"/>
                </a:solidFill>
                <a:latin typeface="Arial"/>
                <a:ea typeface="Arial"/>
                <a:cs typeface="Arial"/>
                <a:sym typeface="Arial"/>
              </a:rPr>
              <a:t>Validación temprana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7388352" y="3465576"/>
            <a:ext cx="3840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0" u="none" cap="none" strike="noStrike">
                <a:solidFill>
                  <a:srgbClr val="30363F"/>
                </a:solidFill>
                <a:latin typeface="Arial"/>
                <a:ea typeface="Arial"/>
                <a:cs typeface="Arial"/>
                <a:sym typeface="Arial"/>
              </a:rPr>
              <a:t>Cada incremento puede demostrarse al tutor y recibir feedback antes de invertir tiempo en el siguiente módulo.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4526280" y="4535424"/>
            <a:ext cx="7041000" cy="941700"/>
          </a:xfrm>
          <a:prstGeom prst="roundRect">
            <a:avLst>
              <a:gd fmla="val 16667" name="adj"/>
            </a:avLst>
          </a:prstGeom>
          <a:solidFill>
            <a:srgbClr val="F7F1FF"/>
          </a:solidFill>
          <a:ln cap="flat" cmpd="sng" w="14600">
            <a:solidFill>
              <a:srgbClr val="6C3B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4736592" y="4745736"/>
            <a:ext cx="438900" cy="438900"/>
          </a:xfrm>
          <a:prstGeom prst="ellipse">
            <a:avLst/>
          </a:prstGeom>
          <a:solidFill>
            <a:srgbClr val="6C3BB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4736592" y="4745736"/>
            <a:ext cx="43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5330952" y="4663440"/>
            <a:ext cx="21489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0" u="none" cap="none" strike="noStrike">
                <a:solidFill>
                  <a:srgbClr val="6C3BB5"/>
                </a:solidFill>
                <a:latin typeface="Arial"/>
                <a:ea typeface="Arial"/>
                <a:cs typeface="Arial"/>
                <a:sym typeface="Arial"/>
              </a:rPr>
              <a:t>Menor riesgo de alcance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7388352" y="4626864"/>
            <a:ext cx="3840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0" u="none" cap="none" strike="noStrike">
                <a:solidFill>
                  <a:srgbClr val="30363F"/>
                </a:solidFill>
                <a:latin typeface="Arial"/>
                <a:ea typeface="Arial"/>
                <a:cs typeface="Arial"/>
                <a:sym typeface="Arial"/>
              </a:rPr>
              <a:t>Si aparecen retrasos, se ajusta el alcance del siguiente incremento sin comprometer todo el proyecto.</a:t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4526280" y="5632704"/>
            <a:ext cx="7041000" cy="576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DE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4681728" y="5733288"/>
            <a:ext cx="1188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Aplicación:</a:t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5596128" y="5715000"/>
            <a:ext cx="2121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8915E"/>
                </a:solidFill>
                <a:latin typeface="Arial"/>
                <a:ea typeface="Arial"/>
                <a:cs typeface="Arial"/>
                <a:sym typeface="Arial"/>
              </a:rPr>
              <a:t>Incremento 1 · Asistente Docente</a:t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7726679" y="5715000"/>
            <a:ext cx="4389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8156448" y="5715000"/>
            <a:ext cx="2880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C3BB5"/>
                </a:solidFill>
                <a:latin typeface="Arial"/>
                <a:ea typeface="Arial"/>
                <a:cs typeface="Arial"/>
                <a:sym typeface="Arial"/>
              </a:rPr>
              <a:t>Incremento 2 · Tutor Institucional RAG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594360" y="6355080"/>
            <a:ext cx="10881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La metodología ágil incremental permite entregar valor de forma progresiva, aprender con cada revisión y adaptarse al tiempo disponible.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PLAN -OMAR</a:t>
            </a:r>
            <a:endParaRPr/>
          </a:p>
        </p:txBody>
      </p:sp>
      <p:pic>
        <p:nvPicPr>
          <p:cNvPr id="303" name="Google Shape;303;p17" title="ChatGPT Image 10 sept 2026, 06_53_43 p.m..png"/>
          <p:cNvPicPr preferRelativeResize="0"/>
          <p:nvPr/>
        </p:nvPicPr>
        <p:blipFill rotWithShape="1">
          <a:blip r:embed="rId3">
            <a:alphaModFix/>
          </a:blip>
          <a:srcRect b="0" l="0" r="0" t="15938"/>
          <a:stretch/>
        </p:blipFill>
        <p:spPr>
          <a:xfrm>
            <a:off x="1705875" y="1609400"/>
            <a:ext cx="9062124" cy="507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/>
          <p:nvPr/>
        </p:nvSpPr>
        <p:spPr>
          <a:xfrm>
            <a:off x="548652" y="1005118"/>
            <a:ext cx="850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249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Cronograma para el desarrollo del proyecto</a:t>
            </a:r>
            <a:endParaRPr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DISEÑO TÉCNICO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Arquitectura de la solución</a:t>
            </a:r>
            <a:endParaRPr/>
          </a:p>
        </p:txBody>
      </p:sp>
      <p:pic>
        <p:nvPicPr>
          <p:cNvPr id="311" name="Google Shape;311;p15"/>
          <p:cNvPicPr preferRelativeResize="0"/>
          <p:nvPr/>
        </p:nvPicPr>
        <p:blipFill rotWithShape="1">
          <a:blip r:embed="rId3">
            <a:alphaModFix/>
          </a:blip>
          <a:srcRect b="0" l="0" r="0" t="14428"/>
          <a:stretch/>
        </p:blipFill>
        <p:spPr>
          <a:xfrm>
            <a:off x="855188" y="1627625"/>
            <a:ext cx="10478574" cy="50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548640" y="859536"/>
            <a:ext cx="54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n-US" sz="1050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en-US" sz="105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 · CALIDAD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48640" y="1115568"/>
            <a:ext cx="11091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249"/>
                </a:solidFill>
                <a:latin typeface="Inter"/>
                <a:ea typeface="Inter"/>
                <a:cs typeface="Inter"/>
                <a:sym typeface="Inter"/>
              </a:rPr>
              <a:t>Evidencias comprometidas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548640" y="166420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97586"/>
                </a:solidFill>
                <a:latin typeface="Inter"/>
                <a:ea typeface="Inter"/>
                <a:cs typeface="Inter"/>
                <a:sym typeface="Inter"/>
              </a:rPr>
              <a:t>Cada evidencia está asociada a un indicador de calidad del perfil de egreso.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548640" y="2194560"/>
            <a:ext cx="5449824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841248" y="245059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68D4"/>
                </a:solidFill>
                <a:latin typeface="Inter"/>
                <a:ea typeface="Inter"/>
                <a:cs typeface="Inter"/>
                <a:sym typeface="Inter"/>
              </a:rPr>
              <a:t>INFORME DE AVANCE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841273" y="3563901"/>
            <a:ext cx="137100" cy="137100"/>
          </a:xfrm>
          <a:prstGeom prst="ellipse">
            <a:avLst/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1152144" y="3465578"/>
            <a:ext cx="381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Documento de arquitectura y decisiones de diseño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5129783" y="3347458"/>
            <a:ext cx="567000" cy="237600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5129783" y="3411614"/>
            <a:ext cx="567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A68D4"/>
                </a:solidFill>
                <a:latin typeface="Inter"/>
                <a:ea typeface="Inter"/>
                <a:cs typeface="Inter"/>
                <a:sym typeface="Inter"/>
              </a:rPr>
              <a:t>2.1</a:t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841248" y="4027932"/>
            <a:ext cx="137160" cy="137160"/>
          </a:xfrm>
          <a:prstGeom prst="ellipse">
            <a:avLst/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1152144" y="3968496"/>
            <a:ext cx="381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Prototipo con </a:t>
            </a:r>
            <a:r>
              <a:rPr lang="en-US" sz="1100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agentes integrados</a:t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5129783" y="3959352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5129783" y="3959352"/>
            <a:ext cx="567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2A68D4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en-US" sz="850" u="none" cap="none" strike="noStrike">
                <a:solidFill>
                  <a:srgbClr val="2A68D4"/>
                </a:solidFill>
                <a:latin typeface="Inter"/>
                <a:ea typeface="Inter"/>
                <a:cs typeface="Inter"/>
                <a:sym typeface="Inter"/>
              </a:rPr>
              <a:t>.1</a:t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841248" y="4594860"/>
            <a:ext cx="137160" cy="137160"/>
          </a:xfrm>
          <a:prstGeom prst="ellipse">
            <a:avLst/>
          </a:prstGeom>
          <a:solidFill>
            <a:srgbClr val="2A6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1152144" y="4535424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Plan de pruebas con criterios de aceptación</a:t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5129783" y="4526280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5129783" y="45262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A68D4"/>
                </a:solidFill>
                <a:latin typeface="Inter"/>
                <a:ea typeface="Inter"/>
                <a:cs typeface="Inter"/>
                <a:sym typeface="Inter"/>
              </a:rPr>
              <a:t>1.1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841248" y="5029200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rPr>
              <a:t>Las evidencias de avance se acuerdan con el docente guía durante la Fase 1.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6190488" y="2194560"/>
            <a:ext cx="5449824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6483096" y="245059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INFORME FINAL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6483096" y="2894076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6793992" y="2834640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Sistema con los tres asistentes integrados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10771632" y="2825496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10771632" y="282549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4.2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6483096" y="3461004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6793992" y="3401568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Informe de ejecución de pruebas y mejoras</a:t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10771632" y="3392424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10771632" y="3392424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1.2</a:t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6483096" y="4027932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6793992" y="3968496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Registro de evaluación de calidad de la IA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10771632" y="3959352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10771632" y="3959352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1.3</a:t>
            </a:r>
            <a:endParaRPr/>
          </a:p>
        </p:txBody>
      </p:sp>
      <p:sp>
        <p:nvSpPr>
          <p:cNvPr id="348" name="Google Shape;348;p19"/>
          <p:cNvSpPr/>
          <p:nvPr/>
        </p:nvSpPr>
        <p:spPr>
          <a:xfrm>
            <a:off x="6483096" y="4594860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6793992" y="4535424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Repositorio con historial de versiones</a:t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10771632" y="4526280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10771632" y="45262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3.2</a:t>
            </a:r>
            <a:endParaRPr/>
          </a:p>
        </p:txBody>
      </p:sp>
      <p:sp>
        <p:nvSpPr>
          <p:cNvPr id="352" name="Google Shape;352;p19"/>
          <p:cNvSpPr/>
          <p:nvPr/>
        </p:nvSpPr>
        <p:spPr>
          <a:xfrm>
            <a:off x="6483096" y="5161788"/>
            <a:ext cx="137160" cy="137160"/>
          </a:xfrm>
          <a:prstGeom prst="ellipse">
            <a:avLst/>
          </a:prstGeom>
          <a:solidFill>
            <a:srgbClr val="744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6793992" y="5102352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D"/>
                </a:solidFill>
                <a:latin typeface="Inter"/>
                <a:ea typeface="Inter"/>
                <a:cs typeface="Inter"/>
                <a:sym typeface="Inter"/>
              </a:rPr>
              <a:t>Informe técnico final y manual actualizado</a:t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10771632" y="5093208"/>
            <a:ext cx="566928" cy="237744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10771632" y="509320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46C9"/>
                </a:solidFill>
                <a:latin typeface="Inter"/>
                <a:ea typeface="Inter"/>
                <a:cs typeface="Inter"/>
                <a:sym typeface="Inter"/>
              </a:rPr>
              <a:t>2.2</a:t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548640" y="5577840"/>
            <a:ext cx="11091672" cy="475488"/>
          </a:xfrm>
          <a:prstGeom prst="roundRect">
            <a:avLst>
              <a:gd fmla="val 8000" name="adj"/>
            </a:avLst>
          </a:prstGeom>
          <a:solidFill>
            <a:srgbClr val="10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822959" y="5577840"/>
            <a:ext cx="10543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CALIDAD DE LA IA SE MIDE: PORCENTAJE DE CONTENIDO QUE EL DOCENTE DEBE CORREGIR ANTES DE APROBAR UN INSTRUMENTO, CONTRA UN CRITERIO DEFINIDO DE ANTEMANO.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249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0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10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8823960" y="347472"/>
            <a:ext cx="2788920" cy="58521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366" name="Google Shape;3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408" y="411480"/>
            <a:ext cx="246888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 txBox="1"/>
          <p:nvPr/>
        </p:nvSpPr>
        <p:spPr>
          <a:xfrm>
            <a:off x="713232" y="1874519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6A623"/>
                </a:solidFill>
                <a:latin typeface="Inter"/>
                <a:ea typeface="Inter"/>
                <a:cs typeface="Inter"/>
                <a:sym typeface="Inter"/>
              </a:rPr>
              <a:t>FASE 1 · DEFINICIÓN DEL PROYECTO APT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713232" y="2286000"/>
            <a:ext cx="55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 sistema funcional </a:t>
            </a: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685832" y="3922760"/>
            <a:ext cx="118800" cy="11880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1005871" y="3840464"/>
            <a:ext cx="4937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Tres asistentes de IA </a:t>
            </a:r>
            <a:r>
              <a:rPr b="0" i="0" lang="en-US" sz="1150" u="none" cap="none" strike="noStrike">
                <a:solidFill>
                  <a:srgbClr val="D9E5F7"/>
                </a:solidFill>
                <a:latin typeface="Inter"/>
                <a:ea typeface="Inter"/>
                <a:cs typeface="Inter"/>
                <a:sym typeface="Inter"/>
              </a:rPr>
              <a:t>con alcances separados y revisión humana obligatoria.</a:t>
            </a: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685832" y="4453112"/>
            <a:ext cx="118800" cy="11880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1005871" y="4370816"/>
            <a:ext cx="49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Calidad medida </a:t>
            </a:r>
            <a:r>
              <a:rPr b="0" i="0" lang="en-US" sz="1150" u="none" cap="none" strike="noStrike">
                <a:solidFill>
                  <a:srgbClr val="D9E5F7"/>
                </a:solidFill>
                <a:latin typeface="Inter"/>
                <a:ea typeface="Inter"/>
                <a:cs typeface="Inter"/>
                <a:sym typeface="Inter"/>
              </a:rPr>
              <a:t>con criterios definidos antes de construir.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713232" y="603504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7A0AD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· Duoc UC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2026-09-10T04:59:30Z</dcterms:created>
  <dc:creator>OpenAI</dc:creator>
</cp:coreProperties>
</file>