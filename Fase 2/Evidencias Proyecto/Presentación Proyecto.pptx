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Avance parcial de Fase 2. Fase 1 cerrada y Fase 3 como paso siguiente, según alcance indicado por el equipo. El corte documental sigue siendo semana 10 aunque se contrastó main el 15 de octubre de 2026.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Fuente de estado: Guía 2.4 actualizada el 15 de octubre de 2026: https://docs.google.com/document/d/1N8bfB1w8FOMuQsXu4ql8BuzMIHwAlxBu/edit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Guía visual: Presentación Proyecto.pptx del profesor. Se conserva su estructura general de ocho diapositivas y su identidad institucional.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Nombres y orden conservados desde la presentación original https://docs.google.com/presentation/d/1Lpr8RpP8_x8GIoYS8NCLHDIxlE77M2ZUkFvI2VSFHcs/edit?usp=drivesdk. Acentos conservados: Mejía y Suárez. La fuente no acredita cargos ni funciones individuales, por lo que no se atribuyen.</a:t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Problema y propuesta resumidos de la guía 2.4, Objetivos y Resumen de avance: https://docs.google.com/document/d/1N8bfB1w8FOMuQsXu4ql8BuzMIHwAlxBu/edit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El informe 2.6 aporta el contexto de aulas multigrado y tareas manuales: https://docs.google.com/document/d/10tvr3mKcFtPts0OQZdLp175CE2XnK8O-/edit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Los tres asistentes corresponden al alcance comprometido, no a una declaración de validación completa. Se omiten porcentajes de sobrecarga, ahorro y precisión porque las fuentes no adjuntan las mediciones que los acrediten.</a:t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Objetivos, no resultados alcanzados. La guía 2.4 define una prueba de concepto para una institución con tres asistentes, piloto curricular acotado y aprobación docente: https://docs.google.com/document/d/1N8bfB1w8FOMuQsXu4ql8BuzMIHwAlxBu/edit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El informe 2.6 detalla persistencia de instrumentos, interfaz de dominio, canalización RAG y plan de pruebas: https://docs.google.com/document/d/10tvr3mKcFtPts0OQZdLp175CE2XnK8O-/edit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La Fase 2 presenta construcción e integración en curso. La validación integral y el cierre corresponden al paso siguiente. La sección 7 muestra los criterios que aún requieren medición.</a:t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Fuente de alcance y límites: guía 2.4 actualizada el 15 de octubre de 2026, apartados Objetivos y Actividades ajustadas o eliminadas: https://docs.google.com/document/d/1N8bfB1w8FOMuQsXu4ql8BuzMIHwAlxBu/edit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El proyecto es una institución por instalación. Cualquier soporte interno relacionado con instituciones no amplía ese alcance.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Los tres asistentes son parte del alcance y no se declaran completamente demostrados. La guía limita el piloto a una asignatura y dos niveles, sin afirmar aquí dos niveles ya indexados.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El README documenta ejecución local con Docker: https://github.com/EstebanIn/Grupo5Capstone/blob/main/Edugestor/README.md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No se encontró evidencia de despliegue productivo en las fuentes revisadas. La ausencia de evidencias en Drive no demuestra ausencia de trabajo local.</a:t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Método incremental propuesto en el informe 2.6: https://docs.google.com/document/d/10tvr3mKcFtPts0OQZdLp175CE2XnK8O-/edit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Estado documental en guía 2.4: 15 historias con estado “Vacío” y sprint “Por definir”, sin respaldo para reconstruir sprints: https://docs.google.com/document/d/1N8bfB1w8FOMuQsXu4ql8BuzMIHwAlxBu/edit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Implementación estática contrastada con main el 15 de octubre de 2026: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https://github.com/EstebanIn/Grupo5Capstone/blob/main/Edugestor/README.md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https://github.com/EstebanIn/Grupo5Capstone/blob/main/Edugestor/colegio/management/commands/indexar_documento_curricular.py (blob e93077965d9aa279f71f3194342074e24592297f)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https://github.com/EstebanIn/Grupo5Capstone/blob/main/Edugestor/colegio/ia/rag.py (blob 80c0a5831dd4af58a0c8f7e4b5f318d0beb18d51)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https://github.com/EstebanIn/Grupo5Capstone/blob/main/Edugestor/colegio/ia/asistentes.py (blob e796e296194b7f096afdb81e271fb3f45d384cf8)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https://github.com/EstebanIn/Grupo5Capstone/blob/main/Edugestor/colegio/views_ia.py (blob 38c1b04dc7b3156ffd81f25f67ffc219f0a6dd0a)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views_ia.py conecta la recuperación a la generación de pruebas con Gemini y registra la aprobación y porcentaje corregido. asistentes.py calcula la similitud de texto. La existencia del mecanismo no demuestra un TCI consolidado ni calidad pedagógica alcanzada.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No se ejecutaron la aplicación ni pruebas como parte de esta revisión documental. La demo, SQL y resultados siguen pendientes de adjuntar según la guía.</a:t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Estado de las fases según alcance confirmado para esta presentación: Fase 1 cerrada, Fase 2 en curso con corte documental semana 10 y Fase 3 siguiente.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Fuente de pendientes: guía 2.4, Monitoreo del Plan de Trabajo y Ajustes: https://docs.google.com/document/d/1N8bfB1w8FOMuQsXu4ql8BuzMIHwAlxBu/edit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La guía registra 15 historias sin estado/sprint, demo funcional, SQL y resultados de pruebas pendientes de adjuntar. Arquitectura y ERD sí están disponibles según esa misma guía. Se debe recuperar o generar evidencia y vincularla a historias/criterios, no deducir que no hay trabajo local.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TCI: la guía exige al menos 10 evaluaciones aprobadas y corrección promedio ≤20 %. El informe 2.6 alterna &lt;20 % y ≤20 %. Se usa aquí el criterio de la guía de avance más reciente; aún no es un resultado.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Planificación: el informe 2.6 propone 15 semanas (https://docs.google.com/document/d/10tvr3mKcFtPts0OQZdLp175CE2XnK8O-/edit); la guía 2.4 advierte referencias S1–S18 en el cronograma inicial y menciona además un semestre de 10 semanas. Se requiere una única planificación homologada antes de atribuir retrasos.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Ahorro: la guía reporta 50–70 % en el texto de impacto y 50–60 % en tabla KPI. El informe 2.6 también afirma 50–60 % sin aportar aquí las mediciones. Se mantienen como metas discordantes, pendientes de homologación y medición.</a:t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15743642327805b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15743642327805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15743642327805b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15743642327805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Diagrama editable del flujo curricular comprobado en main el 15 de octubre de 2026. Una institución por instalación.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Indexación: https://github.com/EstebanIn/Grupo5Capstone/blob/main/Edugestor/colegio/management/commands/indexar_documento_curricular.py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PdfReader extrae texto por página. _fragmentar produce ventanas de 1200 caracteres con solapamiento de 180. La salida JSON incluye metadatos del documento, fragmentos, páginas y SHA-256 del PDF. Se escribe junto al PDF antes de solicitar embeddings. Por ello, JSON existente no equivale a indexación terminada. Los PDF sin texto extraíble requieren OCR previo.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Embeddings y recuperación: https://github.com/EstebanIn/Grupo5Capstone/blob/main/Edugestor/colegio/ia/rag.py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Gemini genera embeddings de 768 dimensiones; textos/vectores se persisten en PostgreSQL/pgvector. buscar_fragmentos filtra documentos activos por asignatura, ciclo y nivel, admitiendo nivel genérico nulo. Ordena por distancia coseno y recupera hasta cinco por defecto.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Generación y revisión: https://github.com/EstebanIn/Grupo5Capstone/blob/main/Edugestor/colegio/views_ia.py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_generar_prueba_con_rag recupera fragmentos cuando el proveedor activo es Gemini y los pasa a crear_prueba. La generación se guarda como borrador y el docente revisa/edita/aprueba. La aprobación registra porcentaje corregido.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Prompt y fuentes: https://github.com/EstebanIn/Grupo5Capstone/blob/main/Edugestor/colegio/ia/asistentes.py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Registra fuentes recuperadas y si se aplicó RAG. El esquema muestra generación de pruebas, no prueba que todo tipo de instrumento emplee recuperación.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Operación local: https://github.com/EstebanIn/Grupo5Capstone/blob/main/Edugestor/README.md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Los vectores viven en la base local, el JSON junto al PDF. Cada instalación debe indexar. No se afirma que el piloto de una asignatura y dos niveles esté completo ni validado.</a:t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16000" y="2603500"/>
            <a:ext cx="101601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1" sz="4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Asistentes de IA sobre EduGestor</a:t>
            </a:r>
            <a:endParaRPr sz="2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AVANCE DE FASE 2</a:t>
            </a:r>
            <a:endParaRPr sz="2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57667D"/>
                </a:solidFill>
                <a:latin typeface="Calibri"/>
                <a:ea typeface="Calibri"/>
                <a:cs typeface="Calibri"/>
                <a:sym typeface="Calibri"/>
              </a:rPr>
              <a:t>Corte documental: semana 10</a:t>
            </a:r>
            <a:endParaRPr sz="20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889000" y="2730500"/>
            <a:ext cx="33021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EQUIPO DE</a:t>
            </a:r>
            <a:endParaRPr sz="36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TRABAJO</a:t>
            </a:r>
            <a:endParaRPr sz="36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4" name="Google Shape;94;p14"/>
          <p:cNvSpPr txBox="1"/>
          <p:nvPr/>
        </p:nvSpPr>
        <p:spPr>
          <a:xfrm>
            <a:off x="5207000" y="2222500"/>
            <a:ext cx="59691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9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Jorge Soto</a:t>
            </a:r>
            <a:endParaRPr b="1" sz="2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b="1" lang="es-CL" sz="29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Omar Mejía</a:t>
            </a:r>
            <a:endParaRPr b="1" sz="2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b="1" lang="es-CL" sz="29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Tomás Suárez</a:t>
            </a:r>
            <a:endParaRPr b="1" sz="2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b="1" lang="es-CL" sz="29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Esteban Cabeza</a:t>
            </a:r>
            <a:endParaRPr b="1" sz="2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t/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08000" y="1054100"/>
            <a:ext cx="1117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Problema y propuesta</a:t>
            </a:r>
            <a:endParaRPr sz="3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3" name="Google Shape;103;p15"/>
          <p:cNvSpPr/>
          <p:nvPr/>
        </p:nvSpPr>
        <p:spPr>
          <a:xfrm>
            <a:off x="762000" y="2159000"/>
            <a:ext cx="4445100" cy="38100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Necesidad docente</a:t>
            </a:r>
            <a:endParaRPr b="1" sz="2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La información académica está dispersa y varias tareas siguen siendo manuales.</a:t>
            </a:r>
            <a:endParaRPr sz="21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En aulas multigrado, preparar evaluaciones y dar seguimiento exige tiempo adicional.</a:t>
            </a:r>
            <a:endParaRPr sz="21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985000" y="2159000"/>
            <a:ext cx="4445100" cy="38100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Propuesta InnovaGestor</a:t>
            </a:r>
            <a:endParaRPr b="1" sz="2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Integrar apoyo curricular, académico y documental sobre EduGestor.</a:t>
            </a:r>
            <a:endParaRPr sz="21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La IA prepara borradores. El docente revisa, corrige y aprueba.</a:t>
            </a:r>
            <a:endParaRPr sz="21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613400" y="3619500"/>
            <a:ext cx="965100" cy="71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08000" y="1054100"/>
            <a:ext cx="1117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Objetivos de Fase 2</a:t>
            </a:r>
            <a:endParaRPr sz="3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4" name="Google Shape;114;p16"/>
          <p:cNvSpPr txBox="1"/>
          <p:nvPr/>
        </p:nvSpPr>
        <p:spPr>
          <a:xfrm>
            <a:off x="762000" y="3733800"/>
            <a:ext cx="10668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Objetivos específicos de esta fase</a:t>
            </a:r>
            <a:endParaRPr sz="27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98500" y="1943100"/>
            <a:ext cx="10794900" cy="14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Integrar asistencia de IA y RAG en EduGestor para apoyar el trabajo pedagógico y la consulta académica, con revisión docente.</a:t>
            </a:r>
            <a:endParaRPr sz="21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98500" y="4305300"/>
            <a:ext cx="10794900" cy="189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Construir el flujo curricular para una asignatura y dos niveles.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Preparar consultas académicas y apoyo documental con fuentes.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Registrar borradores y correcciones para su validación posterior.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08000" y="1054100"/>
            <a:ext cx="1117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Alcance y límites</a:t>
            </a:r>
            <a:endParaRPr sz="3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5" name="Google Shape;125;p17"/>
          <p:cNvSpPr/>
          <p:nvPr/>
        </p:nvSpPr>
        <p:spPr>
          <a:xfrm>
            <a:off x="571500" y="2006600"/>
            <a:ext cx="5359500" cy="38481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812800" y="2247900"/>
            <a:ext cx="4876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Alcance acordado</a:t>
            </a:r>
            <a:endParaRPr b="1" sz="2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50900" y="2908300"/>
            <a:ext cx="4800600" cy="26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Una institución por instalación.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Asistentes curricular, académico y documental.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Piloto curricular: una asignatura y dos niveles.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Datos sintéticos y aprobación docente.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261100" y="2006600"/>
            <a:ext cx="5359500" cy="38481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502400" y="2247900"/>
            <a:ext cx="4876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Límites del avance</a:t>
            </a:r>
            <a:endParaRPr b="1" sz="2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6553200" y="2908300"/>
            <a:ext cx="4762500" cy="26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Prueba de concepto en entorno local.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Despliegue productivo sin acreditar.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Validación completa de los tres asistentes pendiente.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Ahorro y TCI pendientes de medición.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98500" y="6096000"/>
            <a:ext cx="10794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57667D"/>
                </a:solidFill>
                <a:latin typeface="Calibri"/>
                <a:ea typeface="Calibri"/>
                <a:cs typeface="Calibri"/>
                <a:sym typeface="Calibri"/>
              </a:rPr>
              <a:t>Corte parcial de semana 10. El piloto aún requiere evidencia de cumplimiento.</a:t>
            </a:r>
            <a:endParaRPr sz="16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08000" y="1054100"/>
            <a:ext cx="1117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Metodología y avances técnicos</a:t>
            </a:r>
            <a:endParaRPr sz="3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0" name="Google Shape;140;p18"/>
          <p:cNvSpPr/>
          <p:nvPr/>
        </p:nvSpPr>
        <p:spPr>
          <a:xfrm>
            <a:off x="571500" y="2019300"/>
            <a:ext cx="2514600" cy="15621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49300" y="2171700"/>
            <a:ext cx="217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01  Priorizar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749300" y="2705100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Historias y criterios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de aceptación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416300" y="2019300"/>
            <a:ext cx="2514600" cy="15621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594100" y="2171700"/>
            <a:ext cx="217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02  Diseñar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594100" y="2705100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y flujo RAG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261100" y="2019300"/>
            <a:ext cx="2514600" cy="15621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438900" y="2171700"/>
            <a:ext cx="217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03  Construir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438900" y="2705100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Django, Gemini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y PostgreSQL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9105900" y="2019300"/>
            <a:ext cx="2514600" cy="15621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9283700" y="2171700"/>
            <a:ext cx="2171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04  Validar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9283700" y="2705100"/>
            <a:ext cx="2171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Pruebas y revisión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con docentes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98500" y="3937000"/>
            <a:ext cx="107949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Comprobable en main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Indexador PDF/JSON, embeddings y búsqueda curricular filtrada.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Generación de pruebas, aprobación y registro de correcciones.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C57505"/>
                </a:solidFill>
                <a:latin typeface="Calibri"/>
                <a:ea typeface="Calibri"/>
                <a:cs typeface="Calibri"/>
                <a:sym typeface="Calibri"/>
              </a:rPr>
              <a:t>Por demostrar</a:t>
            </a:r>
            <a:endParaRPr b="1" sz="2300">
              <a:solidFill>
                <a:srgbClr val="C575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Ejecución del piloto, resultados de pruebas y cumplimiento de criterios.</a:t>
            </a:r>
            <a:endParaRPr sz="20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7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98500" y="6248400"/>
            <a:ext cx="1079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57667D"/>
                </a:solidFill>
                <a:latin typeface="Calibri"/>
                <a:ea typeface="Calibri"/>
                <a:cs typeface="Calibri"/>
                <a:sym typeface="Calibri"/>
              </a:rPr>
              <a:t>La guía 2.4 registra 15 historias sin estado ni sprint. No acredita avance por sprint.</a:t>
            </a:r>
            <a:endParaRPr sz="16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08000" y="1054100"/>
            <a:ext cx="1117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Estado, validación y próximos pasos</a:t>
            </a:r>
            <a:endParaRPr sz="3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62" name="Google Shape;162;p19"/>
          <p:cNvSpPr/>
          <p:nvPr/>
        </p:nvSpPr>
        <p:spPr>
          <a:xfrm>
            <a:off x="698500" y="1917700"/>
            <a:ext cx="3174900" cy="119370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50900" y="2057400"/>
            <a:ext cx="287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1" sz="21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850900" y="2425700"/>
            <a:ext cx="2870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Cerrada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508500" y="1917700"/>
            <a:ext cx="3174900" cy="1193700"/>
          </a:xfrm>
          <a:prstGeom prst="roundRect">
            <a:avLst>
              <a:gd fmla="val 16667" name="adj"/>
            </a:avLst>
          </a:prstGeom>
          <a:solidFill>
            <a:srgbClr val="FCF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660900" y="2057400"/>
            <a:ext cx="287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rgbClr val="C57505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1" sz="2100">
              <a:solidFill>
                <a:srgbClr val="C575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E88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4660900" y="2425700"/>
            <a:ext cx="2870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Corte semana 10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318500" y="1917700"/>
            <a:ext cx="3174900" cy="119370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8470900" y="2057400"/>
            <a:ext cx="287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1" sz="21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8470900" y="2425700"/>
            <a:ext cx="2870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Siguiente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Integración y cierre</a:t>
            </a:r>
            <a:endParaRPr sz="18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1500" y="3340100"/>
            <a:ext cx="11049000" cy="27939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800100" y="3505200"/>
            <a:ext cx="105918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3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Pendientes para respaldar el próximo corte</a:t>
            </a:r>
            <a:endParaRPr b="1" sz="23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889000" y="4038600"/>
            <a:ext cx="10350600" cy="1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1750"/>
              <a:buFont typeface="Calibri"/>
              <a:buChar char="●"/>
            </a:pPr>
            <a:r>
              <a:rPr lang="es-CL" sz="17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Backlog: asignar estado, responsable y sprint.</a:t>
            </a:r>
            <a:endParaRPr sz="17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1750"/>
              <a:buFont typeface="Calibri"/>
              <a:buChar char="●"/>
            </a:pPr>
            <a:r>
              <a:rPr lang="es-CL" sz="17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Evidencias: adjuntar demo funcional, SQL y resultados de pruebas.</a:t>
            </a:r>
            <a:endParaRPr sz="17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1750"/>
              <a:buFont typeface="Calibri"/>
              <a:buChar char="●"/>
            </a:pPr>
            <a:r>
              <a:rPr lang="es-CL" sz="17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TCI: medir al menos 10 evaluaciones aprobadas. Meta: ≤20 % de corrección promedio.</a:t>
            </a:r>
            <a:endParaRPr sz="17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1750"/>
              <a:buFont typeface="Calibri"/>
              <a:buChar char="●"/>
            </a:pPr>
            <a:r>
              <a:rPr lang="es-CL" sz="17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Calendario: homologar 15 semanas y referencias S1–S18.</a:t>
            </a:r>
            <a:endParaRPr sz="17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384F"/>
              </a:buClr>
              <a:buSzPts val="1750"/>
              <a:buFont typeface="Calibri"/>
              <a:buChar char="●"/>
            </a:pPr>
            <a:r>
              <a:rPr lang="es-CL" sz="17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Ahorro: homologar metas de 50–70 % y 50–60 %. Sin resultado medido.</a:t>
            </a:r>
            <a:endParaRPr sz="17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5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98500" y="6286500"/>
            <a:ext cx="1079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rgbClr val="57667D"/>
                </a:solidFill>
                <a:latin typeface="Calibri"/>
                <a:ea typeface="Calibri"/>
                <a:cs typeface="Calibri"/>
                <a:sym typeface="Calibri"/>
              </a:rPr>
              <a:t>Evidencia pendiente en Drive no significa ausencia de trabajo local. Fuente: guía 2.4.</a:t>
            </a:r>
            <a:endParaRPr sz="15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839800" y="365125"/>
            <a:ext cx="10515600" cy="77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189750" y="1737675"/>
            <a:ext cx="5652000" cy="49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 txBox="1"/>
          <p:nvPr>
            <p:ph idx="4" type="body"/>
          </p:nvPr>
        </p:nvSpPr>
        <p:spPr>
          <a:xfrm>
            <a:off x="5933850" y="1737675"/>
            <a:ext cx="5421600" cy="49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INNOVAGESTOR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508000" y="1054100"/>
            <a:ext cx="1117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Arquitectura y flujo RAG curricular</a:t>
            </a:r>
            <a:endParaRPr sz="34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6" name="Google Shape;196;p22"/>
          <p:cNvSpPr/>
          <p:nvPr/>
        </p:nvSpPr>
        <p:spPr>
          <a:xfrm>
            <a:off x="431800" y="19304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20701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1  PDF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25400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Documento curricular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oficial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2730500" y="19304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2870200" y="20701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2  Extracción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2870200" y="25400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Texto por página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y fragmentación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029200" y="19304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168900" y="20701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3  JSON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5168900" y="25400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Metadatos, fragmentos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y SHA-256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7327900" y="19304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7467600" y="20701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4  Gemini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7467600" y="25400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Embeddings de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768 dimensiones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626600" y="19304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9766300" y="20701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5  PostgreSQL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9766300" y="25400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Textos y vectores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en pgvector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08000" y="3670300"/>
            <a:ext cx="10413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rgbClr val="C57505"/>
                </a:solidFill>
                <a:latin typeface="Calibri"/>
                <a:ea typeface="Calibri"/>
                <a:cs typeface="Calibri"/>
                <a:sym typeface="Calibri"/>
              </a:rPr>
              <a:t>Consulta curricular y generación de una prueba</a:t>
            </a:r>
            <a:endParaRPr b="1" sz="1900">
              <a:solidFill>
                <a:srgbClr val="C575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88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31800" y="41529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2926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47625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Selecciona curso,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asignatura y OA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2730500" y="41529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2870200" y="42926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Django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870200" y="47625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Comprueba la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solicitud y el rol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029200" y="41529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168900" y="42926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Recuperación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168900" y="47625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Filtra asignatura,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ciclo y nivel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327900" y="41529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467600" y="42926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7467600" y="47625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Genera el borrador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con los fragmentos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9626600" y="4152900"/>
            <a:ext cx="2133600" cy="1409700"/>
          </a:xfrm>
          <a:prstGeom prst="roundRect">
            <a:avLst>
              <a:gd fmla="val 16667" name="adj"/>
            </a:avLst>
          </a:prstGeom>
          <a:solidFill>
            <a:srgbClr val="F2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9766300" y="4292600"/>
            <a:ext cx="185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72E57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 b="1" sz="18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72E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9766300" y="4762500"/>
            <a:ext cx="1854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Revisa, corrige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y aprueba</a:t>
            </a:r>
            <a:endParaRPr sz="155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08000" y="5854700"/>
            <a:ext cx="1117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29384F"/>
                </a:solidFill>
                <a:latin typeface="Calibri"/>
                <a:ea typeface="Calibri"/>
                <a:cs typeface="Calibri"/>
                <a:sym typeface="Calibri"/>
              </a:rPr>
              <a:t>El JSON queda junto al PDF. La indexación se completa cuando PostgreSQL guarda los vectores.</a:t>
            </a:r>
            <a:endParaRPr sz="16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93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08000" y="6451600"/>
            <a:ext cx="1117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57667D"/>
                </a:solidFill>
                <a:latin typeface="Calibri"/>
                <a:ea typeface="Calibri"/>
                <a:cs typeface="Calibri"/>
                <a:sym typeface="Calibri"/>
              </a:rPr>
              <a:t>Código: main, indexador, rag.py y views_ia.py. La validación funcional del piloto sigue pendiente.</a:t>
            </a:r>
            <a:endParaRPr sz="12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766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22"/>
          <p:cNvCxnSpPr/>
          <p:nvPr/>
        </p:nvCxnSpPr>
        <p:spPr>
          <a:xfrm>
            <a:off x="2565400" y="26289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2"/>
          <p:cNvCxnSpPr/>
          <p:nvPr/>
        </p:nvCxnSpPr>
        <p:spPr>
          <a:xfrm>
            <a:off x="4864100" y="26289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2"/>
          <p:cNvCxnSpPr/>
          <p:nvPr/>
        </p:nvCxnSpPr>
        <p:spPr>
          <a:xfrm>
            <a:off x="7162800" y="26289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2"/>
          <p:cNvCxnSpPr/>
          <p:nvPr/>
        </p:nvCxnSpPr>
        <p:spPr>
          <a:xfrm>
            <a:off x="9461500" y="26289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2"/>
          <p:cNvCxnSpPr/>
          <p:nvPr/>
        </p:nvCxnSpPr>
        <p:spPr>
          <a:xfrm>
            <a:off x="2565400" y="48514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2"/>
          <p:cNvCxnSpPr/>
          <p:nvPr/>
        </p:nvCxnSpPr>
        <p:spPr>
          <a:xfrm>
            <a:off x="4864100" y="48514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2"/>
          <p:cNvCxnSpPr/>
          <p:nvPr/>
        </p:nvCxnSpPr>
        <p:spPr>
          <a:xfrm>
            <a:off x="7162800" y="48514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2"/>
          <p:cNvCxnSpPr/>
          <p:nvPr/>
        </p:nvCxnSpPr>
        <p:spPr>
          <a:xfrm>
            <a:off x="9461500" y="4851400"/>
            <a:ext cx="165000" cy="12600"/>
          </a:xfrm>
          <a:prstGeom prst="straightConnector1">
            <a:avLst/>
          </a:prstGeom>
          <a:noFill/>
          <a:ln cap="flat" cmpd="sng" w="16500">
            <a:solidFill>
              <a:srgbClr val="73869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